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1c01f81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1c01f81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1c01f81d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1c01f81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1c01f81d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1c01f81d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1c01f81d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1c01f81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1c01f81d6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1c01f81d6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618c0ffa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618c0ffa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618c0ff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618c0ff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1c01f81d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1c01f81d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FDF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266150"/>
            <a:ext cx="8520600" cy="13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360045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3100">
                <a:latin typeface="Times New Roman"/>
                <a:ea typeface="Times New Roman"/>
                <a:cs typeface="Times New Roman"/>
                <a:sym typeface="Times New Roman"/>
              </a:rPr>
              <a:t>Projekt i wykonanie systemu lokalizacji pojazdu</a:t>
            </a:r>
            <a:endParaRPr sz="6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087600" y="2776750"/>
            <a:ext cx="29688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</a:t>
            </a:r>
            <a:endParaRPr sz="2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Miłosz Stec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087600" y="3617200"/>
            <a:ext cx="29688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Opiekun pracy</a:t>
            </a:r>
            <a:endParaRPr sz="2000"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inż. Grzegorz Góra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4"/>
          <p:cNvGrpSpPr/>
          <p:nvPr/>
        </p:nvGrpSpPr>
        <p:grpSpPr>
          <a:xfrm>
            <a:off x="454940" y="1671895"/>
            <a:ext cx="2605089" cy="2547782"/>
            <a:chOff x="476250" y="2162175"/>
            <a:chExt cx="3555950" cy="3477725"/>
          </a:xfrm>
        </p:grpSpPr>
        <p:pic>
          <p:nvPicPr>
            <p:cNvPr descr="image.png" id="62" name="Google Shape;6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6250" y="2162175"/>
              <a:ext cx="3555950" cy="3477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/>
            <p:nvPr/>
          </p:nvSpPr>
          <p:spPr>
            <a:xfrm>
              <a:off x="809625" y="3086100"/>
              <a:ext cx="30837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8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Rozwój wiedzy</a:t>
              </a:r>
              <a:endParaRPr sz="132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809625" y="3676650"/>
              <a:ext cx="2936700" cy="18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2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Chęć zdobycia praktycznej wiedzy z zakresu projektowania i budowy urządzeń Internetu Rzeczy (IoT) oraz programowania mikrokontrolerów.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image.png" id="65" name="Google Shape;6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9625" y="2466975"/>
              <a:ext cx="47625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.png" id="66" name="Google Shape;6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9369" y="1671895"/>
            <a:ext cx="2605089" cy="25477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4"/>
          <p:cNvGrpSpPr/>
          <p:nvPr/>
        </p:nvGrpSpPr>
        <p:grpSpPr>
          <a:xfrm>
            <a:off x="6083799" y="1671895"/>
            <a:ext cx="2605199" cy="2449283"/>
            <a:chOff x="8159650" y="2162175"/>
            <a:chExt cx="3556100" cy="3343275"/>
          </a:xfrm>
        </p:grpSpPr>
        <p:pic>
          <p:nvPicPr>
            <p:cNvPr descr="image.png" id="68" name="Google Shape;68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59650" y="2162175"/>
              <a:ext cx="3556100" cy="3343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4"/>
            <p:cNvSpPr txBox="1"/>
            <p:nvPr/>
          </p:nvSpPr>
          <p:spPr>
            <a:xfrm>
              <a:off x="8493025" y="3086100"/>
              <a:ext cx="30837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8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Aspekt ekonomiczny</a:t>
              </a:r>
              <a:endParaRPr sz="1325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8493025" y="3676650"/>
              <a:ext cx="2937000" cy="14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2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Koszt gotowych rozwiązań rynkowych jest relatywnie wysoki. Projekt własny stanowi tańszą, a równie funkcjonalną alternatywę.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image.png" id="71" name="Google Shape;71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93025" y="2466975"/>
              <a:ext cx="428625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" name="Google Shape;72;p14"/>
          <p:cNvGrpSpPr/>
          <p:nvPr/>
        </p:nvGrpSpPr>
        <p:grpSpPr>
          <a:xfrm>
            <a:off x="442088" y="369250"/>
            <a:ext cx="8259725" cy="641400"/>
            <a:chOff x="420725" y="491375"/>
            <a:chExt cx="8259725" cy="641400"/>
          </a:xfrm>
        </p:grpSpPr>
        <p:sp>
          <p:nvSpPr>
            <p:cNvPr id="73" name="Google Shape;73;p14"/>
            <p:cNvSpPr txBox="1"/>
            <p:nvPr/>
          </p:nvSpPr>
          <p:spPr>
            <a:xfrm>
              <a:off x="420725" y="491375"/>
              <a:ext cx="26736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Motywacja</a:t>
              </a:r>
              <a:endParaRPr b="1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4" name="Google Shape;74;p14"/>
            <p:cNvCxnSpPr/>
            <p:nvPr/>
          </p:nvCxnSpPr>
          <p:spPr>
            <a:xfrm flipH="1" rot="10800000">
              <a:off x="463450" y="1128275"/>
              <a:ext cx="8217000" cy="4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" name="Google Shape;75;p14"/>
          <p:cNvSpPr txBox="1"/>
          <p:nvPr/>
        </p:nvSpPr>
        <p:spPr>
          <a:xfrm>
            <a:off x="3426825" y="2256000"/>
            <a:ext cx="237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None/>
            </a:pPr>
            <a:r>
              <a:rPr b="1" lang="en" sz="1500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Zapotrzebowanie rynkowe</a:t>
            </a:r>
            <a:endParaRPr b="1" sz="1000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426825" y="2671500"/>
            <a:ext cx="2378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2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Rosnące zapotrzebowanie na narzędzia do precyzyjnej analizy przebytych tras oraz monitorowania parametrów eksploatacyjnych pojazdów.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26825" y="1840500"/>
            <a:ext cx="489927" cy="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5"/>
          <p:cNvGrpSpPr/>
          <p:nvPr/>
        </p:nvGrpSpPr>
        <p:grpSpPr>
          <a:xfrm>
            <a:off x="506219" y="1278590"/>
            <a:ext cx="8195474" cy="1225635"/>
            <a:chOff x="503934" y="1214886"/>
            <a:chExt cx="11508880" cy="1846671"/>
          </a:xfrm>
        </p:grpSpPr>
        <p:pic>
          <p:nvPicPr>
            <p:cNvPr descr="image.png" id="83" name="Google Shape;8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4803" y="1785485"/>
              <a:ext cx="11508012" cy="12760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5"/>
            <p:cNvSpPr txBox="1"/>
            <p:nvPr/>
          </p:nvSpPr>
          <p:spPr>
            <a:xfrm>
              <a:off x="503934" y="1214886"/>
              <a:ext cx="11241300" cy="4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Cel pracy:</a:t>
              </a:r>
              <a:endParaRPr b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771523" y="1887727"/>
              <a:ext cx="10706100" cy="96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9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Projekt i realizacja urządzenia monitorowania położenia pojazdu z wykorzystaniem mikrokontrolera ESP32.</a:t>
              </a:r>
              <a:endParaRPr b="1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442100" y="369250"/>
            <a:ext cx="8259712" cy="641400"/>
            <a:chOff x="420738" y="491375"/>
            <a:chExt cx="8259712" cy="641400"/>
          </a:xfrm>
        </p:grpSpPr>
        <p:sp>
          <p:nvSpPr>
            <p:cNvPr id="87" name="Google Shape;87;p15"/>
            <p:cNvSpPr txBox="1"/>
            <p:nvPr/>
          </p:nvSpPr>
          <p:spPr>
            <a:xfrm>
              <a:off x="420738" y="491375"/>
              <a:ext cx="45744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Cel i założenia projektu</a:t>
              </a:r>
              <a:endParaRPr b="1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8" name="Google Shape;88;p15"/>
            <p:cNvCxnSpPr/>
            <p:nvPr/>
          </p:nvCxnSpPr>
          <p:spPr>
            <a:xfrm flipH="1" rot="10800000">
              <a:off x="463450" y="1128275"/>
              <a:ext cx="8217000" cy="4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" name="Google Shape;89;p15"/>
          <p:cNvSpPr txBox="1"/>
          <p:nvPr/>
        </p:nvSpPr>
        <p:spPr>
          <a:xfrm>
            <a:off x="474325" y="2772175"/>
            <a:ext cx="8195400" cy="1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Za</a:t>
            </a:r>
            <a:r>
              <a:rPr b="1" lang="en" sz="180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łożenia</a:t>
            </a:r>
            <a:r>
              <a:rPr b="1" i="0" lang="en" sz="180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80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projektowe</a:t>
            </a:r>
            <a:r>
              <a:rPr b="1" i="0" lang="en" sz="180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i="0" sz="180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454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4"/>
              <a:buFont typeface="Times New Roman"/>
              <a:buChar char="●"/>
            </a:pPr>
            <a:r>
              <a:rPr lang="en" sz="160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Możliwość pracy urządzenia offline,</a:t>
            </a:r>
            <a:endParaRPr sz="160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454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4"/>
              <a:buFont typeface="Times New Roman"/>
              <a:buChar char="●"/>
            </a:pPr>
            <a:r>
              <a:rPr lang="en" sz="160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Synchronizacja danych z serwerem po powrocie WiFi,</a:t>
            </a:r>
            <a:endParaRPr sz="160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454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4"/>
              <a:buFont typeface="Times New Roman"/>
              <a:buChar char="●"/>
            </a:pPr>
            <a:r>
              <a:rPr lang="en" sz="160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Możliwość rozszerzenia o obsługę portu OBD2 oraz czujników środowiskowych,</a:t>
            </a:r>
            <a:endParaRPr sz="160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454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4"/>
              <a:buFont typeface="Times New Roman"/>
              <a:buChar char="●"/>
            </a:pPr>
            <a:r>
              <a:rPr lang="en" sz="160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Oprogramowanie typu open-source.</a:t>
            </a:r>
            <a:endParaRPr sz="160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title="Blank 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675" y="76200"/>
            <a:ext cx="2220166" cy="4991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6"/>
          <p:cNvGrpSpPr/>
          <p:nvPr/>
        </p:nvGrpSpPr>
        <p:grpSpPr>
          <a:xfrm>
            <a:off x="442118" y="369250"/>
            <a:ext cx="5921404" cy="641400"/>
            <a:chOff x="420716" y="491375"/>
            <a:chExt cx="8259734" cy="641400"/>
          </a:xfrm>
        </p:grpSpPr>
        <p:sp>
          <p:nvSpPr>
            <p:cNvPr id="96" name="Google Shape;96;p16"/>
            <p:cNvSpPr txBox="1"/>
            <p:nvPr/>
          </p:nvSpPr>
          <p:spPr>
            <a:xfrm>
              <a:off x="420716" y="491375"/>
              <a:ext cx="82170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Algorytm pracy urządzenia</a:t>
              </a:r>
              <a:endParaRPr b="1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7" name="Google Shape;97;p16"/>
            <p:cNvCxnSpPr/>
            <p:nvPr/>
          </p:nvCxnSpPr>
          <p:spPr>
            <a:xfrm flipH="1" rot="10800000">
              <a:off x="463450" y="1128275"/>
              <a:ext cx="8217000" cy="4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8" name="Google Shape;98;p16"/>
          <p:cNvSpPr txBox="1"/>
          <p:nvPr/>
        </p:nvSpPr>
        <p:spPr>
          <a:xfrm>
            <a:off x="221025" y="1243800"/>
            <a:ext cx="63636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Sekwencyjna akwizycja i serializacja: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Pobieranie danych z wielu źródeł (GNSS, DS18B20) i natychmiastowa konwersja do formatu JSON.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Obsługa wyjątków sieciowych: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Próba połączenia i wysyłki jest podejmowana tylko w określonym oknie czasowym, aby uniknąć blokowania głównej pętli.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Trwałość danych: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Wykorzystanie systemu plików (FAT32) na karcie SD jako nieulotnego bufora, gwarantującego ciągłość śladu GPS w strefach bez zasięgu Wi-Fi.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7"/>
          <p:cNvGrpSpPr/>
          <p:nvPr/>
        </p:nvGrpSpPr>
        <p:grpSpPr>
          <a:xfrm>
            <a:off x="442100" y="369250"/>
            <a:ext cx="8259712" cy="641400"/>
            <a:chOff x="420738" y="491375"/>
            <a:chExt cx="8259712" cy="641400"/>
          </a:xfrm>
        </p:grpSpPr>
        <p:sp>
          <p:nvSpPr>
            <p:cNvPr id="104" name="Google Shape;104;p17"/>
            <p:cNvSpPr txBox="1"/>
            <p:nvPr/>
          </p:nvSpPr>
          <p:spPr>
            <a:xfrm>
              <a:off x="420738" y="491375"/>
              <a:ext cx="45744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Realizacja prototypu</a:t>
              </a:r>
              <a:endParaRPr b="1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5" name="Google Shape;105;p17"/>
            <p:cNvCxnSpPr/>
            <p:nvPr/>
          </p:nvCxnSpPr>
          <p:spPr>
            <a:xfrm flipH="1" rot="10800000">
              <a:off x="463450" y="1128275"/>
              <a:ext cx="8217000" cy="4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000" y="1127150"/>
            <a:ext cx="4361917" cy="370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2746350" y="67450"/>
            <a:ext cx="36513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Interfejs ThingsBoard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63" y="704350"/>
            <a:ext cx="8511276" cy="41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6263"/>
            <a:ext cx="8839202" cy="429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6263"/>
            <a:ext cx="8839202" cy="4290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/>
        </p:nvSpPr>
        <p:spPr>
          <a:xfrm>
            <a:off x="459175" y="352925"/>
            <a:ext cx="3284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Podsumowanie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901900" y="1139738"/>
            <a:ext cx="7456800" cy="694800"/>
          </a:xfrm>
          <a:prstGeom prst="roundRect">
            <a:avLst>
              <a:gd fmla="val 16667" name="adj"/>
            </a:avLst>
          </a:prstGeom>
          <a:solidFill>
            <a:srgbClr val="DAFB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895C"/>
                </a:solidFill>
                <a:highlight>
                  <a:srgbClr val="DAFBE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CEL PRACY ZOSTAŁ/</a:t>
            </a:r>
            <a:r>
              <a:rPr b="1" lang="en" sz="2400">
                <a:solidFill>
                  <a:srgbClr val="FF0000"/>
                </a:solidFill>
                <a:highlight>
                  <a:srgbClr val="DAFBE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NIE ZOSTAŁ</a:t>
            </a:r>
            <a:r>
              <a:rPr b="1" lang="en" sz="2400">
                <a:solidFill>
                  <a:srgbClr val="00895C"/>
                </a:solidFill>
                <a:highlight>
                  <a:srgbClr val="DAFBE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OSIĄGNIĘTY</a:t>
            </a:r>
            <a:endParaRPr b="1" sz="2400">
              <a:solidFill>
                <a:srgbClr val="00895C"/>
              </a:solidFill>
              <a:highlight>
                <a:srgbClr val="DAFBE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9" name="Google Shape;129;p21"/>
          <p:cNvGrpSpPr/>
          <p:nvPr/>
        </p:nvGrpSpPr>
        <p:grpSpPr>
          <a:xfrm>
            <a:off x="333900" y="2110215"/>
            <a:ext cx="4238100" cy="2023719"/>
            <a:chOff x="357188" y="1614488"/>
            <a:chExt cx="4238100" cy="2023719"/>
          </a:xfrm>
        </p:grpSpPr>
        <p:grpSp>
          <p:nvGrpSpPr>
            <p:cNvPr id="130" name="Google Shape;130;p21"/>
            <p:cNvGrpSpPr/>
            <p:nvPr/>
          </p:nvGrpSpPr>
          <p:grpSpPr>
            <a:xfrm>
              <a:off x="357188" y="1614488"/>
              <a:ext cx="4238100" cy="2023719"/>
              <a:chOff x="357188" y="1614488"/>
              <a:chExt cx="4238100" cy="2023719"/>
            </a:xfrm>
          </p:grpSpPr>
          <p:sp>
            <p:nvSpPr>
              <p:cNvPr id="131" name="Google Shape;131;p21"/>
              <p:cNvSpPr txBox="1"/>
              <p:nvPr/>
            </p:nvSpPr>
            <p:spPr>
              <a:xfrm>
                <a:off x="357188" y="1614488"/>
                <a:ext cx="42381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 u="none" cap="none" strike="noStrike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Wnioski końcowe</a:t>
                </a:r>
                <a:endParaRPr sz="16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" name="Google Shape;132;p21"/>
              <p:cNvSpPr txBox="1"/>
              <p:nvPr/>
            </p:nvSpPr>
            <p:spPr>
              <a:xfrm>
                <a:off x="357188" y="1893094"/>
                <a:ext cx="40362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200025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" u="none" cap="none" strike="noStrike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Urządzenie realizuje wszystkie założone funkcje.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" name="Google Shape;133;p21"/>
              <p:cNvSpPr txBox="1"/>
              <p:nvPr/>
            </p:nvSpPr>
            <p:spPr>
              <a:xfrm>
                <a:off x="357188" y="2470500"/>
                <a:ext cx="4036200" cy="46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200025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" u="none" cap="none" strike="noStrike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Rozwiązanie jest skalowalne i tańsze od odpowiedników rynkowych.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4" name="Google Shape;134;p21"/>
              <p:cNvSpPr txBox="1"/>
              <p:nvPr/>
            </p:nvSpPr>
            <p:spPr>
              <a:xfrm>
                <a:off x="357188" y="3175006"/>
                <a:ext cx="4036200" cy="46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200025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" u="none" cap="none" strike="noStrike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Potwierdzono poprawność integracji części sprzęt</a:t>
                </a:r>
                <a:r>
                  <a:rPr lang="en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owej</a:t>
                </a:r>
                <a:r>
                  <a:rPr i="0" lang="en" u="none" cap="none" strike="noStrike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z</a:t>
                </a:r>
                <a:r>
                  <a:rPr i="0" lang="en" u="none" cap="none" strike="noStrike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oprogramowani</a:t>
                </a:r>
                <a:r>
                  <a:rPr lang="en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em</a:t>
                </a:r>
                <a:r>
                  <a:rPr i="0" lang="en" u="none" cap="none" strike="noStrike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pic>
          <p:nvPicPr>
            <p:cNvPr descr="image.png" id="135" name="Google Shape;13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7188" y="1932384"/>
              <a:ext cx="128588" cy="15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36" name="Google Shape;13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7188" y="2509790"/>
              <a:ext cx="128588" cy="15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37" name="Google Shape;13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7188" y="3214296"/>
              <a:ext cx="128588" cy="1500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21"/>
          <p:cNvGrpSpPr/>
          <p:nvPr/>
        </p:nvGrpSpPr>
        <p:grpSpPr>
          <a:xfrm>
            <a:off x="4633944" y="2110163"/>
            <a:ext cx="4238100" cy="1789119"/>
            <a:chOff x="4750594" y="1614488"/>
            <a:chExt cx="4238100" cy="1789119"/>
          </a:xfrm>
        </p:grpSpPr>
        <p:sp>
          <p:nvSpPr>
            <p:cNvPr id="139" name="Google Shape;139;p21"/>
            <p:cNvSpPr txBox="1"/>
            <p:nvPr/>
          </p:nvSpPr>
          <p:spPr>
            <a:xfrm>
              <a:off x="4750594" y="1614488"/>
              <a:ext cx="4238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Możliwości rozwoju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21"/>
            <p:cNvSpPr txBox="1"/>
            <p:nvPr/>
          </p:nvSpPr>
          <p:spPr>
            <a:xfrm>
              <a:off x="4750594" y="1893094"/>
              <a:ext cx="403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00025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Pełna implementacja diagnostyki za pomocą OBD2.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21"/>
            <p:cNvSpPr txBox="1"/>
            <p:nvPr/>
          </p:nvSpPr>
          <p:spPr>
            <a:xfrm>
              <a:off x="4750594" y="2387800"/>
              <a:ext cx="4036200" cy="5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00025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Dodanie modułu GSM dla śledzenia w czasie rzeczywistym.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4750594" y="3188206"/>
              <a:ext cx="403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00025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Szyfrowanie danych na karcie SD.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image.png" id="143" name="Google Shape;14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0594" y="1932384"/>
              <a:ext cx="128588" cy="15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4" name="Google Shape;14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0594" y="2427090"/>
              <a:ext cx="128588" cy="150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45" name="Google Shape;14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0594" y="3227496"/>
              <a:ext cx="128588" cy="15001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6" name="Google Shape;146;p21"/>
          <p:cNvCxnSpPr/>
          <p:nvPr/>
        </p:nvCxnSpPr>
        <p:spPr>
          <a:xfrm flipH="1" rot="10800000">
            <a:off x="480150" y="859625"/>
            <a:ext cx="8217000" cy="4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